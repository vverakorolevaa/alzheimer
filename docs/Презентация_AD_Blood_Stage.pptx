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C0392B"/>
                </a:solidFill>
              </a:rPr>
              <a:t>AD Blood Stage</a:t>
            </a:r>
          </a:p>
          <a:p>
            <a:pPr algn="ctr"/>
            <a:r>
              <a:rPr sz="2000">
                <a:solidFill>
                  <a:srgbClr val="2C3E50"/>
                </a:solidFill>
              </a:rPr>
              <a:t>Ранняя стадийная диагностика болезни Альцгеймера по экспрессии генов крови</a:t>
            </a:r>
            <a:br/>
            <a:r>
              <a:t>(норма → MCI → деменция)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0392B"/>
                </a:solidFill>
              </a:rPr>
              <a:t>1. Литобзор (кратко)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Болезнь Альцгеймера — 55+ млн человек в мире (ВОЗ).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Главная проблема — позднее установление диагноза.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Патология развивается 10–20 лет ДО симптомов (амилоидные бляшки, тау-клубки → атрофия мозга).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К моменту симптомов мозг уже повреждён, лекарства не работают.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Стадии: норма → MCI (промежуточная) → деменция.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MCI — терапевтическое окно: лечение эффективно именно здесь.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0392B"/>
                </a:solidFill>
              </a:rPr>
              <a:t>2. Обоснование и новизна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Обоснование: диагноз ставят поздно — нужно ловить окно MCI.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Существующие методы: МРТ/ПЭТ дороги, ткань мозга у живого недоступна.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Кровь — неинвазивно, дёшево, несёт ранний молекулярный сигнал.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В литературе каждый подход закрывает лишь часть задачи: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— по генам, но только «болен/здоров» (напр. AITeQ);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— 3 стадии, но по МРТ или клиническим шкалам, не по генам;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— гены+стадии+объяснение, но без сайта и на закрытых данных (c-Triadem).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Новизна — впервые ВСЁ вместе: гены крови + 3 стадии + мин. панель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+ объяснение + рабочий сайт + валидация без утечки на открытых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0392B"/>
                </a:solidFill>
              </a:rPr>
              <a:t>3. Реферат — функционал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Вход: уровни экспрессии 15 генов панели (анализ крови).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Выход: 3 вероятности (норма / MCI / деменция) + наиболее вероятная стадия.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Главное: персональное объяснение — вклад каждого гена (SHAP).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Назначение: инструмент поддержки решения врача (скрининг, не диагноз).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Ожидаемый результат: macro-AUC ≈ 0.75 (кросс-валидация).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0392B"/>
                </a:solidFill>
              </a:rPr>
              <a:t>4. Функциональная схема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Скачивание GSE63060 (series matrix + аннотация GPL6947).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Перевод зондов микрочипа в гены, метки стадий CTL/MCI/AD.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Предобработка: log2, нормализация, фильтр генов.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Отбор минимальной панели + мультиномиальная лог. регрессия.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Без утечки: отбор и масштабирование ВНУТРИ фолдов кросс-валидации.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Модель → веб-приложение (Streamlit): ввод генов → стадия + объяснение.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0392B"/>
                </a:solidFill>
              </a:rPr>
              <a:t>5. Инструменты и обоснование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Python + scikit-learn — стандарт ML, воспроизводимо.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Мультиномиальная логистическая регрессия — интерпретируема и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устойчива на малой выборке (нейросеть переобучилась бы на 329 образцах).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SHAP — объяснение: глобальная важность + персональный вклад генов.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ANOVA F-критерий — отбор самых различающих стадии генов.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Streamlit — веб-интерфейс на Python; matplotlib — графики.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0392B"/>
                </a:solidFill>
              </a:rPr>
              <a:t>6. Структура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download_data.py — загрузка данных с NCBI GEO.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data_loader.py / preprocessor.py — парсинг, probe→ген, обработка.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biomarker_panel.py — ЯДРО: отбор панели, кросс-валидация, модель, SHAP.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app.py — веб-интерфейс (Streamlit).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config.py — параметры; cli.py — единая точка входа.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0392B"/>
                </a:solidFill>
              </a:rPr>
              <a:t>7. Интерфейс — ввод и результат</a:t>
            </a:r>
          </a:p>
        </p:txBody>
      </p:sp>
      <p:pic>
        <p:nvPicPr>
          <p:cNvPr id="3" name="Picture 2" descr="01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505" y="1280160"/>
            <a:ext cx="5737726" cy="5303520"/>
          </a:xfrm>
          <a:prstGeom prst="rect">
            <a:avLst/>
          </a:prstGeom>
        </p:spPr>
      </p:pic>
      <p:pic>
        <p:nvPicPr>
          <p:cNvPr id="4" name="Picture 3" descr="02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280160"/>
            <a:ext cx="325963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0392B"/>
                </a:solidFill>
              </a:rPr>
              <a:t>7. Интерфейс — объяснение и метод</a:t>
            </a:r>
          </a:p>
        </p:txBody>
      </p:sp>
      <p:pic>
        <p:nvPicPr>
          <p:cNvPr id="3" name="Picture 2" descr="04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10" y="1280160"/>
            <a:ext cx="288563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0392B"/>
                </a:solidFill>
              </a:rPr>
              <a:t>8.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Данные: GSE63060, кровь, 329 образцов (норма 104 / MCI 80 / деменция 145).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macro-AUC (кросс-валидация) = 0.75 (95% ДИ 0.71–0.79).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AUC по стадиям: норма 0.86, MCI 0.66, деменция 0.72.</a:t>
            </a:r>
          </a:p>
          <a:p>
            <a:pPr lvl="1"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</a:rPr>
              <a:t>    – Норму от болезни отделяет уверенно; MCI — труднее (показано прямо).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Утечки/переобучения нет (наивный ≈ корректный отбор).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0392B"/>
                </a:solidFill>
              </a:rPr>
              <a:t>8. Результаты — графики</a:t>
            </a:r>
          </a:p>
        </p:txBody>
      </p:sp>
      <p:pic>
        <p:nvPicPr>
          <p:cNvPr id="3" name="Picture 2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371600"/>
            <a:ext cx="10515600" cy="43564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C0392B"/>
                </a:solidFill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Рабочий веб-инструмент стадийной диагностики AD по крови на реальных данных.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Ранняя, неинвазивная и объяснимая оценка стадии.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Методология без утечки: метрики по классам, доверительные интервалы.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Прототип поддержки решения врача, не замена ему.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Дальше: внешняя валидация (GSE63061), расширение панели, qPCR.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</a:rPr>
              <a:t>• 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